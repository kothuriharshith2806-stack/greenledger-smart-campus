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34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9EBBA-996F-894A-B54A-D6246ED52CEA}" type="datetimeFigureOut">
              <a:rPr lang="en-US" dirty="0"/>
              <a:pPr/>
              <a:t>10/24/2026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A1323-8D79-1946-B0D7-40001CF92E9D}" type="datetimeFigureOut">
              <a:rPr lang="en-US" dirty="0"/>
              <a:pPr/>
              <a:t>10/24/2026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dirty="0"/>
              <a:pPr/>
              <a:t>10/24/2026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02355-E14B-8545-A8F8-0FE83CC9D524}" type="datetimeFigureOut">
              <a:rPr lang="en-US" dirty="0"/>
              <a:pPr/>
              <a:t>10/24/2026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40F58-564D-2B4F-AE67-E407BA4FCF45}" type="datetimeFigureOut">
              <a:rPr lang="en-US" dirty="0"/>
              <a:pPr/>
              <a:t>10/24/2026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A34C8-038E-2045-AF43-DF7DBB8E0E9E}" type="datetimeFigureOut">
              <a:rPr lang="en-US" dirty="0"/>
              <a:pPr/>
              <a:t>10/24/2026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8C68F-D26B-8F47-958C-23B49CF8A634}" type="datetimeFigureOut">
              <a:rPr lang="en-US" dirty="0"/>
              <a:pPr/>
              <a:t>10/24/2026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F5E60-9974-AC48-9591-99C2BB44B7CF}" type="datetimeFigureOut">
              <a:rPr lang="en-US" dirty="0"/>
              <a:pPr/>
              <a:t>10/24/2026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18C79C5D-2A6F-F04D-97DA-BEF2467B64E4}" type="datetimeFigureOut">
              <a:rPr lang="en-US" dirty="0"/>
              <a:pPr/>
              <a:t>10/24/2026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79C5D-2A6F-F04D-97DA-BEF2467B64E4}" type="datetimeFigureOut">
              <a:rPr lang="en-US" dirty="0"/>
              <a:pPr/>
              <a:t>10/24/2026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dirty="0"/>
              <a:pPr/>
              <a:t>10/24/2026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54567-0DE4-3F47-BF90-CB84690072F9}" type="datetimeFigureOut">
              <a:rPr lang="en-US" dirty="0"/>
              <a:pPr/>
              <a:t>10/24/2026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52C72-DE31-F449-A4ED-4C594FD91407}" type="datetimeFigureOut">
              <a:rPr lang="en-US" dirty="0"/>
              <a:pPr/>
              <a:t>10/24/2026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2726E-379B-B349-9EED-81ED093FA806}" type="datetimeFigureOut">
              <a:rPr lang="en-US" dirty="0"/>
              <a:pPr/>
              <a:t>10/24/2026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09B482E8-6E0E-1B4F-B1FD-C69DB9E858D9}" type="datetimeFigureOut">
              <a:rPr lang="en-US" dirty="0"/>
              <a:pPr/>
              <a:t>10/24/2026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3" r:id="rId9"/>
    <p:sldLayoutId id="2147483657" r:id="rId10"/>
    <p:sldLayoutId id="2147483666" r:id="rId11"/>
    <p:sldLayoutId id="2147483661" r:id="rId12"/>
    <p:sldLayoutId id="2147483658" r:id="rId13"/>
    <p:sldLayoutId id="2147483659" r:id="rId14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BBB6E-380A-9A13-0402-AABD342286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1312" y="5522376"/>
            <a:ext cx="5652800" cy="935216"/>
          </a:xfrm>
        </p:spPr>
        <p:txBody>
          <a:bodyPr/>
          <a:lstStyle/>
          <a:p>
            <a:r>
              <a:rPr lang="en-IN" dirty="0"/>
              <a:t>ECO-BYTES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31FE69-F212-4900-D003-0C63740ED9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 flipH="1">
            <a:off x="301312" y="400408"/>
            <a:ext cx="3957492" cy="769098"/>
          </a:xfrm>
        </p:spPr>
        <p:txBody>
          <a:bodyPr>
            <a:normAutofit/>
          </a:bodyPr>
          <a:lstStyle/>
          <a:p>
            <a:r>
              <a:rPr lang="en-IN" sz="3200" dirty="0"/>
              <a:t>Domain Name </a:t>
            </a:r>
          </a:p>
          <a:p>
            <a:endParaRPr lang="en-IN" sz="7200" b="1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3EB419D-9176-4710-059D-68B3257E6FAA}"/>
              </a:ext>
            </a:extLst>
          </p:cNvPr>
          <p:cNvSpPr txBox="1">
            <a:spLocks/>
          </p:cNvSpPr>
          <p:nvPr/>
        </p:nvSpPr>
        <p:spPr>
          <a:xfrm flipH="1">
            <a:off x="301312" y="1169506"/>
            <a:ext cx="8341771" cy="1088569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5400" b="1" dirty="0"/>
              <a:t>Sustainability &amp; Climate action </a:t>
            </a:r>
            <a:endParaRPr lang="en-US" sz="5400" b="1"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E626A08A-F1B8-4F95-701C-F3BEAECC7658}"/>
              </a:ext>
            </a:extLst>
          </p:cNvPr>
          <p:cNvSpPr txBox="1">
            <a:spLocks/>
          </p:cNvSpPr>
          <p:nvPr/>
        </p:nvSpPr>
        <p:spPr>
          <a:xfrm flipH="1">
            <a:off x="301312" y="5176865"/>
            <a:ext cx="7463615" cy="1088569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dirty="0"/>
              <a:t>Team Name</a:t>
            </a:r>
            <a:endParaRPr lang="en-US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05EF0E-B9D1-6783-2465-2DEE88A2CE7D}"/>
              </a:ext>
            </a:extLst>
          </p:cNvPr>
          <p:cNvSpPr txBox="1"/>
          <p:nvPr/>
        </p:nvSpPr>
        <p:spPr>
          <a:xfrm>
            <a:off x="10300718" y="5688300"/>
            <a:ext cx="2202426" cy="3834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i="1" dirty="0"/>
              <a:t>K HARSHITH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BF5760-7A80-4024-913B-DCD69E080B7C}"/>
              </a:ext>
            </a:extLst>
          </p:cNvPr>
          <p:cNvSpPr txBox="1"/>
          <p:nvPr/>
        </p:nvSpPr>
        <p:spPr>
          <a:xfrm>
            <a:off x="10300718" y="6074134"/>
            <a:ext cx="1891282" cy="3834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i="1" dirty="0"/>
              <a:t>B BHUMIKA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39536E-CA58-C2F7-3ED6-ABD65671E61E}"/>
              </a:ext>
            </a:extLst>
          </p:cNvPr>
          <p:cNvSpPr txBox="1"/>
          <p:nvPr/>
        </p:nvSpPr>
        <p:spPr>
          <a:xfrm>
            <a:off x="10300718" y="5383876"/>
            <a:ext cx="20647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Team Members </a:t>
            </a:r>
          </a:p>
        </p:txBody>
      </p:sp>
    </p:spTree>
    <p:extLst>
      <p:ext uri="{BB962C8B-B14F-4D97-AF65-F5344CB8AC3E}">
        <p14:creationId xmlns:p14="http://schemas.microsoft.com/office/powerpoint/2010/main" val="22092046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2">
            <a:extLst>
              <a:ext uri="{FF2B5EF4-FFF2-40B4-BE49-F238E27FC236}">
                <a16:creationId xmlns:a16="http://schemas.microsoft.com/office/drawing/2014/main" id="{85039A9C-4E2D-3655-0C04-5B0CD996281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3438" y="245852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400" dirty="0"/>
              <a:t>Software Name </a:t>
            </a:r>
          </a:p>
          <a:p>
            <a:endParaRPr lang="en-IN" sz="7200" b="1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E77C666A-8ABF-D8F2-B955-2A8958001F0C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10000" y="2955890"/>
            <a:ext cx="11096412" cy="2321314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5400" b="1" dirty="0"/>
              <a:t>GreenLedger: Campus Resource Optimisation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166389-CD65-6D6A-2E54-D7CBF2BB2886}"/>
              </a:ext>
            </a:extLst>
          </p:cNvPr>
          <p:cNvSpPr txBox="1"/>
          <p:nvPr/>
        </p:nvSpPr>
        <p:spPr>
          <a:xfrm>
            <a:off x="10559845" y="6410812"/>
            <a:ext cx="15436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ECO-BYTES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AC21E3-22BE-1F0C-C22D-680DBD5D5D88}"/>
              </a:ext>
            </a:extLst>
          </p:cNvPr>
          <p:cNvSpPr txBox="1"/>
          <p:nvPr/>
        </p:nvSpPr>
        <p:spPr>
          <a:xfrm>
            <a:off x="810000" y="5373456"/>
            <a:ext cx="102269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laptop-based prototype for electricity, solar, water and waste insights</a:t>
            </a:r>
          </a:p>
          <a:p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24F9A5-E110-0CD8-EB4B-A472253F9D45}"/>
              </a:ext>
            </a:extLst>
          </p:cNvPr>
          <p:cNvSpPr txBox="1"/>
          <p:nvPr/>
        </p:nvSpPr>
        <p:spPr>
          <a:xfrm>
            <a:off x="323438" y="1216302"/>
            <a:ext cx="48846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Greenledger I Smart campus sustainability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830355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31446-9B3F-135A-3EDC-138DE151F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48" y="94850"/>
            <a:ext cx="10571998" cy="970450"/>
          </a:xfrm>
        </p:spPr>
        <p:txBody>
          <a:bodyPr/>
          <a:lstStyle/>
          <a:p>
            <a:r>
              <a:rPr lang="en-IN" dirty="0"/>
              <a:t>The Problem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7BA727-7475-6E23-0F3D-AC62D7E2C722}"/>
              </a:ext>
            </a:extLst>
          </p:cNvPr>
          <p:cNvSpPr txBox="1"/>
          <p:nvPr/>
        </p:nvSpPr>
        <p:spPr>
          <a:xfrm>
            <a:off x="164048" y="1065300"/>
            <a:ext cx="84702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Greenledger I Smart campus sustainability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1D15B4-A345-7F49-1980-67623227720C}"/>
              </a:ext>
            </a:extLst>
          </p:cNvPr>
          <p:cNvSpPr txBox="1"/>
          <p:nvPr/>
        </p:nvSpPr>
        <p:spPr>
          <a:xfrm>
            <a:off x="810000" y="2998113"/>
            <a:ext cx="10307177" cy="2292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spcAft>
                <a:spcPts val="1400"/>
              </a:spcAft>
              <a:buFont typeface="Courier New" panose="02070309020205020404" pitchFamily="49" charset="0"/>
              <a:buChar char="o"/>
              <a:defRPr sz="2100">
                <a:solidFill>
                  <a:srgbClr val="192A34"/>
                </a:solidFill>
              </a:defRPr>
            </a:pPr>
            <a:r>
              <a:rPr lang="en-US" sz="2700" dirty="0">
                <a:solidFill>
                  <a:schemeClr val="tx1">
                    <a:lumMod val="95000"/>
                  </a:schemeClr>
                </a:solidFill>
                <a:latin typeface="Bahnschrift SemiCondensed" panose="020B0502040204020203" pitchFamily="34" charset="0"/>
              </a:rPr>
              <a:t>Electricity, water and waste records may be stored in different places.</a:t>
            </a:r>
          </a:p>
          <a:p>
            <a:pPr marL="342900" indent="-342900" algn="just">
              <a:spcAft>
                <a:spcPts val="1400"/>
              </a:spcAft>
              <a:buFont typeface="Courier New" panose="02070309020205020404" pitchFamily="49" charset="0"/>
              <a:buChar char="o"/>
              <a:defRPr sz="2100">
                <a:solidFill>
                  <a:srgbClr val="192A34"/>
                </a:solidFill>
              </a:defRPr>
            </a:pPr>
            <a:r>
              <a:rPr lang="en-US" sz="2700" dirty="0">
                <a:solidFill>
                  <a:schemeClr val="tx1">
                    <a:lumMod val="95000"/>
                  </a:schemeClr>
                </a:solidFill>
                <a:latin typeface="Bahnschrift SemiCondensed" panose="020B0502040204020203" pitchFamily="34" charset="0"/>
              </a:rPr>
              <a:t>Unusual increases can be missed when readings are reviewed manually.</a:t>
            </a:r>
          </a:p>
          <a:p>
            <a:pPr marL="342900" indent="-342900" algn="just">
              <a:spcAft>
                <a:spcPts val="1400"/>
              </a:spcAft>
              <a:buFont typeface="Courier New" panose="02070309020205020404" pitchFamily="49" charset="0"/>
              <a:buChar char="o"/>
              <a:defRPr sz="2100">
                <a:solidFill>
                  <a:srgbClr val="192A34"/>
                </a:solidFill>
              </a:defRPr>
            </a:pPr>
            <a:r>
              <a:rPr lang="en-US" sz="2700" dirty="0">
                <a:solidFill>
                  <a:schemeClr val="tx1">
                    <a:lumMod val="95000"/>
                  </a:schemeClr>
                </a:solidFill>
                <a:latin typeface="Bahnschrift SemiCondensed" panose="020B0502040204020203" pitchFamily="34" charset="0"/>
              </a:rPr>
              <a:t>Teams need a clear alert, an investigation step and a record follow-up.</a:t>
            </a:r>
          </a:p>
          <a:p>
            <a:pPr marL="342900" indent="-342900" algn="just">
              <a:spcAft>
                <a:spcPts val="1400"/>
              </a:spcAft>
              <a:buFont typeface="Courier New" panose="02070309020205020404" pitchFamily="49" charset="0"/>
              <a:buChar char="o"/>
              <a:defRPr sz="2100">
                <a:solidFill>
                  <a:srgbClr val="192A34"/>
                </a:solidFill>
              </a:defRPr>
            </a:pPr>
            <a:r>
              <a:rPr lang="en-US" sz="2700" dirty="0">
                <a:solidFill>
                  <a:schemeClr val="tx1">
                    <a:lumMod val="95000"/>
                  </a:schemeClr>
                </a:solidFill>
                <a:latin typeface="Bahnschrift SemiCondensed" panose="020B0502040204020203" pitchFamily="34" charset="0"/>
              </a:rPr>
              <a:t>Greenledger brings the workflow into one dashboard.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CCAAF3-A030-3EF9-F26D-617963CE7B10}"/>
              </a:ext>
            </a:extLst>
          </p:cNvPr>
          <p:cNvSpPr txBox="1"/>
          <p:nvPr/>
        </p:nvSpPr>
        <p:spPr>
          <a:xfrm>
            <a:off x="10578518" y="6283354"/>
            <a:ext cx="1551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/>
              <a:t>ECO-BYTES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7698052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48B94-8F20-D0E8-E16D-6B82ED2169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270" y="120017"/>
            <a:ext cx="10571998" cy="970450"/>
          </a:xfrm>
        </p:spPr>
        <p:txBody>
          <a:bodyPr/>
          <a:lstStyle/>
          <a:p>
            <a:r>
              <a:rPr lang="en-IN" dirty="0"/>
              <a:t>Our Solution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318F93-F5AF-10D7-00F7-E6B3B75F2AE5}"/>
              </a:ext>
            </a:extLst>
          </p:cNvPr>
          <p:cNvSpPr txBox="1"/>
          <p:nvPr/>
        </p:nvSpPr>
        <p:spPr>
          <a:xfrm>
            <a:off x="147270" y="1090467"/>
            <a:ext cx="60639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Greenledger I Smart campus sustainability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1528176-B8C8-4DEB-57D8-FF61E73C969C}"/>
              </a:ext>
            </a:extLst>
          </p:cNvPr>
          <p:cNvSpPr txBox="1"/>
          <p:nvPr/>
        </p:nvSpPr>
        <p:spPr>
          <a:xfrm>
            <a:off x="810000" y="2757421"/>
            <a:ext cx="10571998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800" dirty="0"/>
              <a:t>We Upload campus readings from CSV or Enter readings manually.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800" dirty="0"/>
              <a:t>Compare each zone’s current reading with its baseline average.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800" dirty="0"/>
              <a:t>Flag unusual increases using an adjustable threshold.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800" dirty="0"/>
              <a:t>Recommend actions and we can export the readings for review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02BC54-1B1F-ED5C-EF06-C0C394408A8B}"/>
              </a:ext>
            </a:extLst>
          </p:cNvPr>
          <p:cNvSpPr txBox="1"/>
          <p:nvPr/>
        </p:nvSpPr>
        <p:spPr>
          <a:xfrm>
            <a:off x="10620462" y="6342077"/>
            <a:ext cx="13885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ECO-BYTES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061472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3B8DD-2414-470D-69DE-E128D5DF8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739" y="19529"/>
            <a:ext cx="10571998" cy="970450"/>
          </a:xfrm>
        </p:spPr>
        <p:txBody>
          <a:bodyPr/>
          <a:lstStyle/>
          <a:p>
            <a:r>
              <a:rPr lang="en-IN" dirty="0"/>
              <a:t>How our system works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1757E9-9E52-E018-1F8E-D11CD4FA295C}"/>
              </a:ext>
            </a:extLst>
          </p:cNvPr>
          <p:cNvSpPr txBox="1"/>
          <p:nvPr/>
        </p:nvSpPr>
        <p:spPr>
          <a:xfrm>
            <a:off x="115739" y="989979"/>
            <a:ext cx="9721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Greenledger I Smart campus sustainability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DE6E04-6A34-E2E6-D0AA-F72669260D02}"/>
              </a:ext>
            </a:extLst>
          </p:cNvPr>
          <p:cNvSpPr txBox="1"/>
          <p:nvPr/>
        </p:nvSpPr>
        <p:spPr>
          <a:xfrm>
            <a:off x="994611" y="2598820"/>
            <a:ext cx="10571998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sz="3000" dirty="0">
                <a:latin typeface="Arial Narrow" panose="020B0606020202030204" pitchFamily="34" charset="0"/>
              </a:rPr>
              <a:t>Collect readings from authorized meters, logs or campus records.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sz="3000" dirty="0">
                <a:latin typeface="Arial Narrow" panose="020B0606020202030204" pitchFamily="34" charset="0"/>
              </a:rPr>
              <a:t>Validate dates, units, zone names and missing values.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sz="3000" dirty="0">
                <a:latin typeface="Arial Narrow" panose="020B0606020202030204" pitchFamily="34" charset="0"/>
              </a:rPr>
              <a:t>Calculate baseline averages and compare later readings.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sz="3000" dirty="0">
                <a:latin typeface="Arial Narrow" panose="020B0606020202030204" pitchFamily="34" charset="0"/>
              </a:rPr>
              <a:t>Create alerts and recommend an investigation.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sz="3000" dirty="0">
                <a:latin typeface="Arial Narrow" panose="020B0606020202030204" pitchFamily="34" charset="0"/>
              </a:rPr>
              <a:t>Record the responses and review results overtime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sz="3000" dirty="0">
                <a:latin typeface="Arial Narrow" panose="020B0606020202030204" pitchFamily="34" charset="0"/>
              </a:rPr>
              <a:t>If we connect it smart integration system it can automatically shutdown if unusual usage is detected.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CF0B85-F1FC-97E8-051A-ECB14D058EA0}"/>
              </a:ext>
            </a:extLst>
          </p:cNvPr>
          <p:cNvSpPr txBox="1"/>
          <p:nvPr/>
        </p:nvSpPr>
        <p:spPr>
          <a:xfrm>
            <a:off x="10687737" y="6350466"/>
            <a:ext cx="13885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ECO-BYTES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50673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AFFA72-F0F9-34A2-8CBA-AC0E8A0DAA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658" y="128406"/>
            <a:ext cx="10571998" cy="970450"/>
          </a:xfrm>
        </p:spPr>
        <p:txBody>
          <a:bodyPr/>
          <a:lstStyle/>
          <a:p>
            <a:r>
              <a:rPr lang="en-IN" dirty="0"/>
              <a:t>Project Architecture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9D4B20E0-3BA0-AC66-CF42-2CF5F253F3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879134"/>
            <a:ext cx="12192000" cy="4978866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F1419EB-5A06-F713-378F-0DB1C204D06D}"/>
              </a:ext>
            </a:extLst>
          </p:cNvPr>
          <p:cNvSpPr txBox="1"/>
          <p:nvPr/>
        </p:nvSpPr>
        <p:spPr>
          <a:xfrm>
            <a:off x="10496959" y="6402708"/>
            <a:ext cx="17700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ECO-BYTES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673E031-DF1D-ED5C-C077-2BCB11FB9C60}"/>
              </a:ext>
            </a:extLst>
          </p:cNvPr>
          <p:cNvSpPr txBox="1"/>
          <p:nvPr/>
        </p:nvSpPr>
        <p:spPr>
          <a:xfrm>
            <a:off x="155658" y="1165829"/>
            <a:ext cx="48846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Greenledger I Smart campus sustainability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859647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2626E-3FC1-B3E8-8DC6-35B9D3649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12" y="67019"/>
            <a:ext cx="11853644" cy="970450"/>
          </a:xfrm>
        </p:spPr>
        <p:txBody>
          <a:bodyPr>
            <a:noAutofit/>
          </a:bodyPr>
          <a:lstStyle/>
          <a:p>
            <a:r>
              <a:rPr lang="en-IN" dirty="0"/>
              <a:t>Innovation-What makes greenledger different ?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A8F539D-8F4D-21F3-6CB5-07CE9C2E51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6000" y="1903718"/>
            <a:ext cx="6096000" cy="4954282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7F4C694-6457-9DED-87B4-A7133D805D68}"/>
              </a:ext>
            </a:extLst>
          </p:cNvPr>
          <p:cNvSpPr txBox="1"/>
          <p:nvPr/>
        </p:nvSpPr>
        <p:spPr>
          <a:xfrm>
            <a:off x="1" y="2197768"/>
            <a:ext cx="6096000" cy="4431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One dashboard for electricity, solar generation, water and waste.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Compares current usage against a baseline.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Flags unusual increases automatically.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Suggests actions instead of merely displaying numbers.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Designed to start with uploaded data—no sensors required for the first prototype.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54A433-31C2-E2EB-BA66-9CCA2B4601F2}"/>
              </a:ext>
            </a:extLst>
          </p:cNvPr>
          <p:cNvSpPr txBox="1"/>
          <p:nvPr/>
        </p:nvSpPr>
        <p:spPr>
          <a:xfrm>
            <a:off x="10628851" y="6421649"/>
            <a:ext cx="13885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ECO-BYTES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824965C-F6ED-7BFF-F040-0831E0A99E59}"/>
              </a:ext>
            </a:extLst>
          </p:cNvPr>
          <p:cNvSpPr txBox="1"/>
          <p:nvPr/>
        </p:nvSpPr>
        <p:spPr>
          <a:xfrm>
            <a:off x="67112" y="1037469"/>
            <a:ext cx="48846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Greenledger I Smart campus sustainability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274228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B81519-6365-3601-6E29-8F7631043B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546" y="0"/>
            <a:ext cx="10571998" cy="970450"/>
          </a:xfrm>
        </p:spPr>
        <p:txBody>
          <a:bodyPr/>
          <a:lstStyle/>
          <a:p>
            <a:r>
              <a:rPr lang="en-IN" dirty="0"/>
              <a:t>Smart Alert Example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1B8DE24-1343-E55B-B512-029B52C4E9A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042484" y="1876926"/>
            <a:ext cx="5149516" cy="4981074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1F04CB7-9374-4C5D-0C98-8408C9622A01}"/>
                  </a:ext>
                </a:extLst>
              </p:cNvPr>
              <p:cNvSpPr txBox="1"/>
              <p:nvPr/>
            </p:nvSpPr>
            <p:spPr>
              <a:xfrm>
                <a:off x="0" y="2197768"/>
                <a:ext cx="7042483" cy="43857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400" b="1" dirty="0"/>
                  <a:t>Reading                                               Electricity </a:t>
                </a:r>
              </a:p>
              <a:p>
                <a:r>
                  <a:rPr lang="en-IN" sz="2400" dirty="0"/>
                  <a:t>Base line                                                 100 kwh</a:t>
                </a:r>
              </a:p>
              <a:p>
                <a:r>
                  <a:rPr lang="en-IN" sz="2400" dirty="0"/>
                  <a:t>Current reading                                     130 kwh</a:t>
                </a:r>
              </a:p>
              <a:p>
                <a:r>
                  <a:rPr lang="en-IN" sz="2400" dirty="0"/>
                  <a:t>Increase                                                       30%</a:t>
                </a:r>
              </a:p>
              <a:p>
                <a:r>
                  <a:rPr lang="en-IN" sz="2400" dirty="0"/>
                  <a:t>System result                                             Alert</a:t>
                </a:r>
              </a:p>
              <a:p>
                <a:r>
                  <a:rPr lang="en-IN" sz="2400" dirty="0"/>
                  <a:t>Formula : </a:t>
                </a:r>
                <a14:m>
                  <m:oMath xmlns:m="http://schemas.openxmlformats.org/officeDocument/2006/math">
                    <m:r>
                      <a:rPr lang="en-IN" sz="2400" dirty="0" smtClean="0">
                        <a:latin typeface="Cambria Math" panose="02040503050406030204" pitchFamily="18" charset="0"/>
                      </a:rPr>
                      <m:t>%</m:t>
                    </m:r>
                    <m:r>
                      <m:rPr>
                        <m:nor/>
                      </m:rPr>
                      <a:rPr lang="en-IN" sz="2400" i="0" dirty="0">
                        <a:latin typeface="Cambria Math" panose="02040503050406030204" pitchFamily="18" charset="0"/>
                      </a:rPr>
                      <m:t> increase</m:t>
                    </m:r>
                    <m:r>
                      <a:rPr lang="en-IN" sz="2400" i="0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sz="2400" i="0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400" i="0" dirty="0">
                            <a:latin typeface="Cambria Math" panose="02040503050406030204" pitchFamily="18" charset="0"/>
                          </a:rPr>
                          <m:t>Current</m:t>
                        </m:r>
                        <m:r>
                          <a:rPr lang="en-IN" sz="2400" i="0" dirty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nor/>
                          </m:rPr>
                          <a:rPr lang="en-IN" sz="2400" i="0" dirty="0">
                            <a:latin typeface="Cambria Math" panose="02040503050406030204" pitchFamily="18" charset="0"/>
                          </a:rPr>
                          <m:t>Baseline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sz="2400" i="0" dirty="0">
                            <a:latin typeface="Cambria Math" panose="02040503050406030204" pitchFamily="18" charset="0"/>
                          </a:rPr>
                          <m:t>Baseline</m:t>
                        </m:r>
                      </m:den>
                    </m:f>
                    <m:r>
                      <a:rPr lang="en-IN" sz="2400" i="0" dirty="0">
                        <a:latin typeface="Cambria Math" panose="02040503050406030204" pitchFamily="18" charset="0"/>
                      </a:rPr>
                      <m:t>×100</m:t>
                    </m:r>
                  </m:oMath>
                </a14:m>
                <a:endParaRPr lang="en-IN" sz="2400" dirty="0"/>
              </a:p>
              <a:p>
                <a:endParaRPr lang="en-IN" sz="2400" dirty="0"/>
              </a:p>
              <a:p>
                <a:r>
                  <a:rPr lang="en-IN" sz="2400" dirty="0"/>
                  <a:t>If we choose threshold is 25%, the system flags the 30% increase for investigation. The alert identifies an unusual reading; it does not prove the cause.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1F04CB7-9374-4C5D-0C98-8408C9622A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197768"/>
                <a:ext cx="7042483" cy="4385752"/>
              </a:xfrm>
              <a:prstGeom prst="rect">
                <a:avLst/>
              </a:prstGeom>
              <a:blipFill>
                <a:blip r:embed="rId3"/>
                <a:stretch>
                  <a:fillRect l="-1299" t="-1113" b="-222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1F0215FE-E0C6-908F-290F-700F2640124C}"/>
              </a:ext>
            </a:extLst>
          </p:cNvPr>
          <p:cNvSpPr txBox="1"/>
          <p:nvPr/>
        </p:nvSpPr>
        <p:spPr>
          <a:xfrm>
            <a:off x="10803478" y="6410812"/>
            <a:ext cx="13885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ECO-BYTES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E4F79F-4DDB-D5BB-DC3E-AAECC3D0C37B}"/>
              </a:ext>
            </a:extLst>
          </p:cNvPr>
          <p:cNvSpPr txBox="1"/>
          <p:nvPr/>
        </p:nvSpPr>
        <p:spPr>
          <a:xfrm>
            <a:off x="88546" y="968126"/>
            <a:ext cx="48846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Greenledger I Smart campus sustainability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214423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FAEBC53-4364-2C8D-2227-206FE6562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" y="0"/>
            <a:ext cx="10571998" cy="970450"/>
          </a:xfrm>
        </p:spPr>
        <p:txBody>
          <a:bodyPr/>
          <a:lstStyle/>
          <a:p>
            <a:r>
              <a:rPr lang="en-IN" dirty="0"/>
              <a:t>Dashboard preview with live example</a:t>
            </a:r>
          </a:p>
        </p:txBody>
      </p:sp>
      <p:pic>
        <p:nvPicPr>
          <p:cNvPr id="19" name="Content Placeholder 18">
            <a:extLst>
              <a:ext uri="{FF2B5EF4-FFF2-40B4-BE49-F238E27FC236}">
                <a16:creationId xmlns:a16="http://schemas.microsoft.com/office/drawing/2014/main" id="{D18DD5B6-B131-7A95-FF15-C06FD54CA3D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0" y="1550126"/>
            <a:ext cx="6183155" cy="2673531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</p:pic>
      <p:pic>
        <p:nvPicPr>
          <p:cNvPr id="21" name="Content Placeholder 20">
            <a:extLst>
              <a:ext uri="{FF2B5EF4-FFF2-40B4-BE49-F238E27FC236}">
                <a16:creationId xmlns:a16="http://schemas.microsoft.com/office/drawing/2014/main" id="{0C5AD342-CA99-6377-70DD-49483808AE0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83155" y="1550126"/>
            <a:ext cx="6008845" cy="2673531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1A349094-3E31-F0AD-8CCE-FDB599251D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" y="4223657"/>
            <a:ext cx="6183156" cy="2634343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BC146060-1D58-BE72-145C-5BBC51617B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5094" y="4223657"/>
            <a:ext cx="5966906" cy="2634343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7EA51FBC-5465-7746-186A-9F7D127D4035}"/>
              </a:ext>
            </a:extLst>
          </p:cNvPr>
          <p:cNvSpPr txBox="1"/>
          <p:nvPr/>
        </p:nvSpPr>
        <p:spPr>
          <a:xfrm>
            <a:off x="10696578" y="6409863"/>
            <a:ext cx="20636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ECO-BYTES</a:t>
            </a:r>
          </a:p>
          <a:p>
            <a:endParaRPr lang="en-IN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E91E9AC-9992-DE23-B1E7-75AD1078AC13}"/>
              </a:ext>
            </a:extLst>
          </p:cNvPr>
          <p:cNvSpPr txBox="1"/>
          <p:nvPr/>
        </p:nvSpPr>
        <p:spPr>
          <a:xfrm>
            <a:off x="67112" y="970450"/>
            <a:ext cx="48846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Greenledger I Smart campus sustainability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913535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1A7928-D4F4-7671-AF1B-D1B32E20B7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947" y="97309"/>
            <a:ext cx="10571998" cy="970450"/>
          </a:xfrm>
        </p:spPr>
        <p:txBody>
          <a:bodyPr/>
          <a:lstStyle/>
          <a:p>
            <a:r>
              <a:rPr lang="en-IN" dirty="0"/>
              <a:t>Benefits and Expected Impact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7DE190F-D462-6F8B-EBCB-9761F43012F9}"/>
              </a:ext>
            </a:extLst>
          </p:cNvPr>
          <p:cNvSpPr txBox="1"/>
          <p:nvPr/>
        </p:nvSpPr>
        <p:spPr>
          <a:xfrm>
            <a:off x="192947" y="2650920"/>
            <a:ext cx="619946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/>
              <a:t>Helps staff identify unusual resource consumption.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/>
              <a:t>Support data-based solutions.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/>
              <a:t>Encourages responsible electricity, water and waste management.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/>
              <a:t>Can reduce avoidable waste if recommendations acted upon.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/>
              <a:t>Provide for future sustainability planning.</a:t>
            </a:r>
          </a:p>
          <a:p>
            <a:endParaRPr lang="en-IN" dirty="0"/>
          </a:p>
          <a:p>
            <a:r>
              <a:rPr lang="en-IN" dirty="0"/>
              <a:t>“Designed to help reduce waste, “rather than claiming a specific percentage of savings before testing.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DE0681-D8F7-5B9B-8D78-BCFDDA5EC6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5298" y="1895912"/>
            <a:ext cx="5866701" cy="496208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F56ED05-439E-E4E4-74DC-EDCEEF6C5582}"/>
              </a:ext>
            </a:extLst>
          </p:cNvPr>
          <p:cNvSpPr txBox="1"/>
          <p:nvPr/>
        </p:nvSpPr>
        <p:spPr>
          <a:xfrm>
            <a:off x="10662407" y="6410812"/>
            <a:ext cx="18371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/>
              <a:t>ECO-BYTES</a:t>
            </a:r>
            <a:endParaRPr lang="en-IN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BF9C66-A00F-A260-BBE7-5A47EB31EA2D}"/>
              </a:ext>
            </a:extLst>
          </p:cNvPr>
          <p:cNvSpPr txBox="1"/>
          <p:nvPr/>
        </p:nvSpPr>
        <p:spPr>
          <a:xfrm>
            <a:off x="192947" y="1067759"/>
            <a:ext cx="48846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Greenledger I Smart campus sustainability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34121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9507E-644B-1C6C-A62C-FD87CDBA5E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169" y="222124"/>
            <a:ext cx="10571998" cy="970450"/>
          </a:xfrm>
        </p:spPr>
        <p:txBody>
          <a:bodyPr/>
          <a:lstStyle/>
          <a:p>
            <a:r>
              <a:rPr lang="en-IN" dirty="0"/>
              <a:t>Feasibility, limitations and future scope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211F42-B68D-E15A-2E0B-24B28B99E59B}"/>
              </a:ext>
            </a:extLst>
          </p:cNvPr>
          <p:cNvSpPr txBox="1"/>
          <p:nvPr/>
        </p:nvSpPr>
        <p:spPr>
          <a:xfrm>
            <a:off x="176169" y="2382472"/>
            <a:ext cx="6308521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 </a:t>
            </a:r>
            <a:r>
              <a:rPr lang="en-IN" b="1" dirty="0"/>
              <a:t>Current prototype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IN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/>
              <a:t>Runs on laptop.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/>
              <a:t>Uses uploaded data and software based analysis.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/>
              <a:t>Requires no purchased sensors for the initial demonstration.</a:t>
            </a:r>
          </a:p>
          <a:p>
            <a:endParaRPr lang="en-IN" b="1" dirty="0"/>
          </a:p>
          <a:p>
            <a:r>
              <a:rPr lang="en-IN" b="1" dirty="0"/>
              <a:t>Future Development</a:t>
            </a:r>
          </a:p>
          <a:p>
            <a:endParaRPr lang="en-IN" b="1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/>
              <a:t>Connect to actual electricity and water meter records.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/>
              <a:t>Add automated daily reports and notifications.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/>
              <a:t>Forecast usage trends.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/>
              <a:t>Integrate compatible monitoring devices after approval and safety review.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B238BF-B6C5-2FF9-96DF-9C45B55FCA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6576" y="1912690"/>
            <a:ext cx="5925424" cy="494531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4AB6477-962D-FE2D-5BCB-0C7F820D1550}"/>
              </a:ext>
            </a:extLst>
          </p:cNvPr>
          <p:cNvSpPr txBox="1"/>
          <p:nvPr/>
        </p:nvSpPr>
        <p:spPr>
          <a:xfrm>
            <a:off x="10600888" y="6382124"/>
            <a:ext cx="14149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ECO-BYTES</a:t>
            </a:r>
          </a:p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AB48EB-AAF8-51E4-5250-806A6DD6FF3F}"/>
              </a:ext>
            </a:extLst>
          </p:cNvPr>
          <p:cNvSpPr txBox="1"/>
          <p:nvPr/>
        </p:nvSpPr>
        <p:spPr>
          <a:xfrm>
            <a:off x="176169" y="1192574"/>
            <a:ext cx="48846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Greenledger I Smart campus sustainability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186100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89D55-40FA-77CC-8A96-172694A34A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8114" y="0"/>
            <a:ext cx="10571998" cy="970450"/>
          </a:xfrm>
        </p:spPr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385C87-3475-D4C6-54C8-D7FCB0615831}"/>
              </a:ext>
            </a:extLst>
          </p:cNvPr>
          <p:cNvSpPr txBox="1"/>
          <p:nvPr/>
        </p:nvSpPr>
        <p:spPr>
          <a:xfrm>
            <a:off x="218114" y="970450"/>
            <a:ext cx="54947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Greenledger I Smart campus sustainability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74736E-37E5-A835-7ED6-A53A07FD6C10}"/>
              </a:ext>
            </a:extLst>
          </p:cNvPr>
          <p:cNvSpPr txBox="1"/>
          <p:nvPr/>
        </p:nvSpPr>
        <p:spPr>
          <a:xfrm>
            <a:off x="218114" y="2310232"/>
            <a:ext cx="10077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Turning Campus Data into Sustainable Action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CDB2DE-C827-8261-2BC3-E8F7DACDCA36}"/>
              </a:ext>
            </a:extLst>
          </p:cNvPr>
          <p:cNvSpPr txBox="1"/>
          <p:nvPr/>
        </p:nvSpPr>
        <p:spPr>
          <a:xfrm>
            <a:off x="850232" y="3256547"/>
            <a:ext cx="993988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Monitor Resources </a:t>
            </a:r>
          </a:p>
          <a:p>
            <a:r>
              <a:rPr lang="en-IN" sz="2400" dirty="0"/>
              <a:t>Track electricity, Water and waste in one dashboard</a:t>
            </a:r>
          </a:p>
          <a:p>
            <a:endParaRPr lang="en-IN" sz="2400" dirty="0"/>
          </a:p>
          <a:p>
            <a:endParaRPr lang="en-IN" sz="2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1584C8C-032F-2181-1E17-3DCBE58342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10233"/>
            <a:ext cx="12192000" cy="454776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91C3C82-BA39-67DD-8E06-50ABCC5EE831}"/>
              </a:ext>
            </a:extLst>
          </p:cNvPr>
          <p:cNvSpPr txBox="1"/>
          <p:nvPr/>
        </p:nvSpPr>
        <p:spPr>
          <a:xfrm>
            <a:off x="10561739" y="6476301"/>
            <a:ext cx="16302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ECO-BYTES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201155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E34421D-4C2E-4889-1A9E-3241492EA5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503" y="-19451"/>
            <a:ext cx="10571998" cy="970450"/>
          </a:xfrm>
        </p:spPr>
        <p:txBody>
          <a:bodyPr/>
          <a:lstStyle/>
          <a:p>
            <a:r>
              <a:rPr lang="en-IN" dirty="0"/>
              <a:t>Greenledger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A3E22CB-EE8D-981A-0389-DCCD64271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99803"/>
            <a:ext cx="12192000" cy="495819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38F6E82-992C-F062-19C2-7E2DA5881764}"/>
              </a:ext>
            </a:extLst>
          </p:cNvPr>
          <p:cNvSpPr txBox="1"/>
          <p:nvPr/>
        </p:nvSpPr>
        <p:spPr>
          <a:xfrm>
            <a:off x="226503" y="950999"/>
            <a:ext cx="63420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Campus resource intelligence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5A57ED5-1E51-3A20-B04E-45CBC6A25460}"/>
              </a:ext>
            </a:extLst>
          </p:cNvPr>
          <p:cNvSpPr txBox="1"/>
          <p:nvPr/>
        </p:nvSpPr>
        <p:spPr>
          <a:xfrm>
            <a:off x="8464492" y="4127383"/>
            <a:ext cx="2541864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ECO-BYTES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0440840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Quotable">
  <a:themeElements>
    <a:clrScheme name="Quo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6F3559E9-1A4C-49D8-94D4-F41003531C4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120</TotalTime>
  <Words>514</Words>
  <Application>Microsoft Office PowerPoint</Application>
  <PresentationFormat>Widescreen</PresentationFormat>
  <Paragraphs>94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Arial</vt:lpstr>
      <vt:lpstr>Arial Narrow</vt:lpstr>
      <vt:lpstr>Bahnschrift SemiCondensed</vt:lpstr>
      <vt:lpstr>Cambria Math</vt:lpstr>
      <vt:lpstr>Century Gothic</vt:lpstr>
      <vt:lpstr>Courier New</vt:lpstr>
      <vt:lpstr>Wingdings</vt:lpstr>
      <vt:lpstr>Wingdings 2</vt:lpstr>
      <vt:lpstr>Quotable</vt:lpstr>
      <vt:lpstr>ECO-BYTES</vt:lpstr>
      <vt:lpstr>Software Name  </vt:lpstr>
      <vt:lpstr>The Problem</vt:lpstr>
      <vt:lpstr>Our Solution</vt:lpstr>
      <vt:lpstr>How our system works</vt:lpstr>
      <vt:lpstr>Project Architecture</vt:lpstr>
      <vt:lpstr>Innovation-What makes greenledger different ?</vt:lpstr>
      <vt:lpstr>Smart Alert Example</vt:lpstr>
      <vt:lpstr>Dashboard preview with live example</vt:lpstr>
      <vt:lpstr>Benefits and Expected Impact</vt:lpstr>
      <vt:lpstr>Feasibility, limitations and future scope</vt:lpstr>
      <vt:lpstr>Conclusion</vt:lpstr>
      <vt:lpstr>Greenledger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ECO-BYTES</dc:title>
  <dc:creator>K Harshith</dc:creator>
  <cp:lastModifiedBy>B Kalpana</cp:lastModifiedBy>
  <cp:revision>6</cp:revision>
  <dcterms:created xsi:type="dcterms:W3CDTF">2026-10-24T10:37:04Z</dcterms:created>
  <dcterms:modified xsi:type="dcterms:W3CDTF">2026-10-24T18:30:47Z</dcterms:modified>
</cp:coreProperties>
</file>